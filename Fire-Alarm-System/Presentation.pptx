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5" r:id="rId3"/>
    <p:sldId id="261" r:id="rId4"/>
    <p:sldId id="264" r:id="rId5"/>
    <p:sldId id="258" r:id="rId6"/>
    <p:sldId id="263" r:id="rId7"/>
    <p:sldId id="266" r:id="rId8"/>
    <p:sldId id="267" r:id="rId9"/>
    <p:sldId id="268" r:id="rId10"/>
    <p:sldId id="259" r:id="rId11"/>
    <p:sldId id="262" r:id="rId12"/>
    <p:sldId id="260" r:id="rId13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CA6CA9-4131-4002-9A07-4A9416A9248D}" v="283" dt="2023-12-03T13:18:35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41" autoAdjust="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51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86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938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75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66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5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436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3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459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7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5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12/5/2023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208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7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microsoft.com/office/2007/relationships/hdphoto" Target="../media/hdphoto5.wdp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5.wdp"/><Relationship Id="rId7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2.wdp"/><Relationship Id="rId4" Type="http://schemas.openxmlformats.org/officeDocument/2006/relationships/image" Target="../media/image10.png"/><Relationship Id="rId9" Type="http://schemas.microsoft.com/office/2007/relationships/hdphoto" Target="../media/hdphoto6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A7971386-B2B0-4A38-8D3B-8CF23AAA6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96AE4BD0-E2D6-4FE1-9295-59E338A45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ure">
            <a:extLst>
              <a:ext uri="{FF2B5EF4-FFF2-40B4-BE49-F238E27FC236}">
                <a16:creationId xmlns:a16="http://schemas.microsoft.com/office/drawing/2014/main" id="{0D29D77D-2D4E-4868-960B-BEDA724F5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047" y="-1"/>
            <a:ext cx="12195048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09CB4-95EC-7CF4-3DC9-F9493675F2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76656"/>
            <a:ext cx="3277432" cy="3063240"/>
          </a:xfrm>
        </p:spPr>
        <p:txBody>
          <a:bodyPr>
            <a:normAutofit/>
          </a:bodyPr>
          <a:lstStyle/>
          <a:p>
            <a:r>
              <a:rPr lang="en-US" dirty="0"/>
              <a:t>FIRE ALARM SYSTEM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BCA1DF-164B-D480-52E6-0EFE96D07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840481"/>
            <a:ext cx="3277432" cy="192583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Sumayyah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Khan (EE-1639)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Safa Mirza (EE-1633)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Sonia Azhar Siddiqui (EE-1667)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Ashhad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Siddique (EE-1641)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PK" dirty="0"/>
          </a:p>
        </p:txBody>
      </p:sp>
      <p:pic>
        <p:nvPicPr>
          <p:cNvPr id="4" name="Picture 3" descr="A pattern of red transparent stripes">
            <a:extLst>
              <a:ext uri="{FF2B5EF4-FFF2-40B4-BE49-F238E27FC236}">
                <a16:creationId xmlns:a16="http://schemas.microsoft.com/office/drawing/2014/main" id="{F387E180-DC0E-7EA4-BEF8-8B1C5C5C35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92" b="10327"/>
          <a:stretch/>
        </p:blipFill>
        <p:spPr>
          <a:xfrm>
            <a:off x="3957208" y="10"/>
            <a:ext cx="8234792" cy="6857990"/>
          </a:xfrm>
          <a:custGeom>
            <a:avLst/>
            <a:gdLst/>
            <a:ahLst/>
            <a:cxnLst/>
            <a:rect l="l" t="t" r="r" b="b"/>
            <a:pathLst>
              <a:path w="8234792" h="6821666">
                <a:moveTo>
                  <a:pt x="2322410" y="0"/>
                </a:moveTo>
                <a:lnTo>
                  <a:pt x="8234792" y="0"/>
                </a:lnTo>
                <a:lnTo>
                  <a:pt x="8234792" y="4503719"/>
                </a:lnTo>
                <a:lnTo>
                  <a:pt x="8215888" y="4629599"/>
                </a:lnTo>
                <a:cubicBezTo>
                  <a:pt x="8049795" y="5454493"/>
                  <a:pt x="7647096" y="6191792"/>
                  <a:pt x="7082996" y="6765066"/>
                </a:cubicBezTo>
                <a:lnTo>
                  <a:pt x="7021717" y="6821666"/>
                </a:lnTo>
                <a:lnTo>
                  <a:pt x="0" y="6821666"/>
                </a:lnTo>
                <a:lnTo>
                  <a:pt x="0" y="3790727"/>
                </a:lnTo>
                <a:cubicBezTo>
                  <a:pt x="0" y="2186928"/>
                  <a:pt x="879517" y="791919"/>
                  <a:pt x="2175128" y="76659"/>
                </a:cubicBezTo>
                <a:close/>
              </a:path>
            </a:pathLst>
          </a:custGeom>
        </p:spPr>
      </p:pic>
      <p:pic>
        <p:nvPicPr>
          <p:cNvPr id="5" name="Picture 6" descr="Free vector pack with nine fire silhouettes">
            <a:extLst>
              <a:ext uri="{FF2B5EF4-FFF2-40B4-BE49-F238E27FC236}">
                <a16:creationId xmlns:a16="http://schemas.microsoft.com/office/drawing/2014/main" id="{61A47A45-CA08-C2BA-C7A8-D5B5AC5F7F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704" t="6550" r="66092" b="64973"/>
          <a:stretch/>
        </p:blipFill>
        <p:spPr bwMode="auto">
          <a:xfrm>
            <a:off x="1800314" y="746449"/>
            <a:ext cx="1436914" cy="1623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CE6389-9E6B-A3D0-D0E0-2515F2BB1183}"/>
              </a:ext>
            </a:extLst>
          </p:cNvPr>
          <p:cNvSpPr txBox="1"/>
          <p:nvPr/>
        </p:nvSpPr>
        <p:spPr>
          <a:xfrm>
            <a:off x="457200" y="5838911"/>
            <a:ext cx="3277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800000"/>
                </a:highlight>
              </a:rPr>
              <a:t>SEMESTER 1 EE-B2</a:t>
            </a:r>
          </a:p>
          <a:p>
            <a:r>
              <a:rPr lang="en-US" dirty="0">
                <a:highlight>
                  <a:srgbClr val="800000"/>
                </a:highlight>
              </a:rPr>
              <a:t>LINEAR CIRCUIT ANALYSIS</a:t>
            </a:r>
            <a:endParaRPr lang="en-PK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6393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Photo conflagration">
            <a:extLst>
              <a:ext uri="{FF2B5EF4-FFF2-40B4-BE49-F238E27FC236}">
                <a16:creationId xmlns:a16="http://schemas.microsoft.com/office/drawing/2014/main" id="{0BB669B5-027C-D49C-5AC3-88E98D484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4460" y="-23407"/>
            <a:ext cx="6948768" cy="694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hoto destroyed city on fire fire in burning buildings nuclear radioactive armageddon">
            <a:extLst>
              <a:ext uri="{FF2B5EF4-FFF2-40B4-BE49-F238E27FC236}">
                <a16:creationId xmlns:a16="http://schemas.microsoft.com/office/drawing/2014/main" id="{53F90899-177D-67B7-C4F9-DF25FC2B2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770" y="-23407"/>
            <a:ext cx="6260453" cy="417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37535C-2BF2-0819-FD67-168872869BE8}"/>
              </a:ext>
            </a:extLst>
          </p:cNvPr>
          <p:cNvSpPr/>
          <p:nvPr/>
        </p:nvSpPr>
        <p:spPr>
          <a:xfrm>
            <a:off x="0" y="2799184"/>
            <a:ext cx="12192000" cy="14806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31CE3-F78B-D286-BDFA-BE2DC107D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924" y="3385283"/>
            <a:ext cx="11480152" cy="717486"/>
          </a:xfrm>
        </p:spPr>
        <p:txBody>
          <a:bodyPr>
            <a:normAutofit fontScale="775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 algn="ctr">
              <a:buNone/>
            </a:pPr>
            <a:r>
              <a:rPr lang="en-US" sz="5400" b="1" i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highlight>
                  <a:srgbClr val="800000"/>
                </a:highlight>
              </a:rPr>
              <a:t>DETECT, DETERMINE AND DETER DANGER</a:t>
            </a:r>
            <a:endParaRPr lang="en-PK" sz="5400" b="1" i="1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highlight>
                <a:srgbClr val="800000"/>
              </a:highlight>
            </a:endParaRPr>
          </a:p>
        </p:txBody>
      </p:sp>
      <p:pic>
        <p:nvPicPr>
          <p:cNvPr id="1036" name="Picture 12" descr="Free photo city in a tornado, doomsday scene illustration.">
            <a:extLst>
              <a:ext uri="{FF2B5EF4-FFF2-40B4-BE49-F238E27FC236}">
                <a16:creationId xmlns:a16="http://schemas.microsoft.com/office/drawing/2014/main" id="{09E16253-E752-031E-4767-5BE69EF6D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48" y="4102769"/>
            <a:ext cx="6274698" cy="286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058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6088-9FC2-B7A0-1181-2CED01B7B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  <a:endParaRPr lang="en-PK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858C438-903D-D563-B91D-E053ADDCC3D1}"/>
              </a:ext>
            </a:extLst>
          </p:cNvPr>
          <p:cNvSpPr/>
          <p:nvPr/>
        </p:nvSpPr>
        <p:spPr>
          <a:xfrm>
            <a:off x="457200" y="2276669"/>
            <a:ext cx="3153747" cy="30977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C33692-5BFA-6700-96C7-A0C06A14C175}"/>
              </a:ext>
            </a:extLst>
          </p:cNvPr>
          <p:cNvSpPr/>
          <p:nvPr/>
        </p:nvSpPr>
        <p:spPr>
          <a:xfrm>
            <a:off x="8581053" y="2276669"/>
            <a:ext cx="3153747" cy="30977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D14D9FC-87F3-9A52-1E80-66902D3EACC1}"/>
              </a:ext>
            </a:extLst>
          </p:cNvPr>
          <p:cNvSpPr/>
          <p:nvPr/>
        </p:nvSpPr>
        <p:spPr>
          <a:xfrm>
            <a:off x="4397827" y="2276669"/>
            <a:ext cx="3153747" cy="309776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CCBBD1-6C40-0E3B-BD2B-658AF0F9BE7F}"/>
              </a:ext>
            </a:extLst>
          </p:cNvPr>
          <p:cNvSpPr txBox="1"/>
          <p:nvPr/>
        </p:nvSpPr>
        <p:spPr>
          <a:xfrm>
            <a:off x="685799" y="3286942"/>
            <a:ext cx="26965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EARLY FIRE DETECTION </a:t>
            </a:r>
            <a:endParaRPr lang="en-PK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D5EC60-B2D1-7616-4355-24CDE6FC1E21}"/>
              </a:ext>
            </a:extLst>
          </p:cNvPr>
          <p:cNvSpPr txBox="1"/>
          <p:nvPr/>
        </p:nvSpPr>
        <p:spPr>
          <a:xfrm>
            <a:off x="4505129" y="3052618"/>
            <a:ext cx="29391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REDUCE PROPERTY DAMAGE</a:t>
            </a:r>
            <a:endParaRPr lang="en-PK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1A983F-CA2A-C7FF-DA1C-45121273F4B7}"/>
              </a:ext>
            </a:extLst>
          </p:cNvPr>
          <p:cNvSpPr txBox="1"/>
          <p:nvPr/>
        </p:nvSpPr>
        <p:spPr>
          <a:xfrm>
            <a:off x="8761445" y="3040721"/>
            <a:ext cx="27447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ALERTING THE OCCUPANTS</a:t>
            </a:r>
            <a:endParaRPr lang="en-PK" sz="3200" dirty="0"/>
          </a:p>
        </p:txBody>
      </p:sp>
    </p:spTree>
    <p:extLst>
      <p:ext uri="{BB962C8B-B14F-4D97-AF65-F5344CB8AC3E}">
        <p14:creationId xmlns:p14="http://schemas.microsoft.com/office/powerpoint/2010/main" val="2117886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ADC4E-8013-B84C-58A9-05CD9086C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3616" y="964160"/>
            <a:ext cx="3265713" cy="5156722"/>
          </a:xfrm>
          <a:solidFill>
            <a:schemeClr val="accent2">
              <a:lumMod val="75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1200" dirty="0">
              <a:highlight>
                <a:srgbClr val="800000"/>
              </a:highlight>
            </a:endParaRPr>
          </a:p>
          <a:p>
            <a:pPr marL="0" indent="0" algn="ctr">
              <a:buNone/>
            </a:pPr>
            <a:r>
              <a:rPr lang="en-US" sz="2400" dirty="0">
                <a:highlight>
                  <a:srgbClr val="800000"/>
                </a:highlight>
              </a:rPr>
              <a:t>REDUCE PROPERTY DAMAGE</a:t>
            </a:r>
            <a:endParaRPr lang="en-PK" sz="2400" dirty="0">
              <a:highlight>
                <a:srgbClr val="800000"/>
              </a:highlight>
            </a:endParaRPr>
          </a:p>
          <a:p>
            <a:pPr marL="0" indent="0">
              <a:buNone/>
            </a:pPr>
            <a:r>
              <a:rPr lang="en-US" dirty="0"/>
              <a:t>Fire accidents can cause </a:t>
            </a:r>
            <a:r>
              <a:rPr lang="en-US" b="0" i="0" dirty="0">
                <a:effectLst/>
              </a:rPr>
              <a:t>extensive damage to buildings, equipment</a:t>
            </a:r>
            <a:r>
              <a:rPr lang="en-US" b="0" i="0" dirty="0">
                <a:effectLst/>
                <a:latin typeface="Söhne"/>
              </a:rPr>
              <a:t>, and valuable assets. Early fire detection and control can h</a:t>
            </a:r>
            <a:r>
              <a:rPr lang="en-US" sz="2000" b="0" i="0" dirty="0">
                <a:effectLst/>
              </a:rPr>
              <a:t>elp minimize financial losses for individuals, businesses, and communities.</a:t>
            </a:r>
            <a:endParaRPr lang="en-PK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FAE2A4-A476-9F66-DC4A-8C61D3BDB979}"/>
              </a:ext>
            </a:extLst>
          </p:cNvPr>
          <p:cNvSpPr txBox="1">
            <a:spLocks/>
          </p:cNvSpPr>
          <p:nvPr/>
        </p:nvSpPr>
        <p:spPr>
          <a:xfrm>
            <a:off x="609600" y="964162"/>
            <a:ext cx="3265713" cy="515672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200" dirty="0">
              <a:highlight>
                <a:srgbClr val="800000"/>
              </a:highlight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highlight>
                  <a:srgbClr val="800000"/>
                </a:highlight>
              </a:rPr>
              <a:t>EARLY FIRE DETECTION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i="0" dirty="0">
                <a:effectLst/>
              </a:rPr>
              <a:t>Early fire detection can give us the opportunity to control and extinguish the fire before it can cause health or property damage.</a:t>
            </a:r>
            <a:endParaRPr lang="en-PK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533373-E367-0F16-5F7C-6191FF2B84E5}"/>
              </a:ext>
            </a:extLst>
          </p:cNvPr>
          <p:cNvSpPr txBox="1">
            <a:spLocks/>
          </p:cNvSpPr>
          <p:nvPr/>
        </p:nvSpPr>
        <p:spPr>
          <a:xfrm>
            <a:off x="8184308" y="964160"/>
            <a:ext cx="3265713" cy="51567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1200" dirty="0">
              <a:highlight>
                <a:srgbClr val="800000"/>
              </a:highlight>
            </a:endParaRPr>
          </a:p>
          <a:p>
            <a:pPr marL="0" indent="0" algn="ctr">
              <a:buNone/>
            </a:pPr>
            <a:r>
              <a:rPr lang="en-US" sz="2400" dirty="0">
                <a:highlight>
                  <a:srgbClr val="800000"/>
                </a:highlight>
              </a:rPr>
              <a:t>ALERTING THE OCCUPANTS</a:t>
            </a:r>
            <a:endParaRPr lang="en-PK" sz="2400" dirty="0">
              <a:highlight>
                <a:srgbClr val="800000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Alerting the occupants can help facilitate </a:t>
            </a:r>
            <a:r>
              <a:rPr lang="en-US" sz="2000" b="0" i="0" dirty="0">
                <a:effectLst/>
              </a:rPr>
              <a:t>prompt evacuation and intervention which ultimately reduces the risk of injuries and fatalities</a:t>
            </a:r>
            <a:endParaRPr lang="en-PK" dirty="0"/>
          </a:p>
        </p:txBody>
      </p:sp>
      <p:pic>
        <p:nvPicPr>
          <p:cNvPr id="13" name="Picture 12" descr="A red fire extinguisher and a black background&#10;&#10;Description automatically generated">
            <a:extLst>
              <a:ext uri="{FF2B5EF4-FFF2-40B4-BE49-F238E27FC236}">
                <a16:creationId xmlns:a16="http://schemas.microsoft.com/office/drawing/2014/main" id="{D22AF1FD-B1E0-0C46-F805-55D88F281C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01" y="4471224"/>
            <a:ext cx="1491037" cy="1491037"/>
          </a:xfrm>
          <a:prstGeom prst="rect">
            <a:avLst/>
          </a:prstGeom>
        </p:spPr>
      </p:pic>
      <p:pic>
        <p:nvPicPr>
          <p:cNvPr id="17" name="Picture 16" descr="A firefighter spraying water&#10;&#10;Description automatically generated">
            <a:extLst>
              <a:ext uri="{FF2B5EF4-FFF2-40B4-BE49-F238E27FC236}">
                <a16:creationId xmlns:a16="http://schemas.microsoft.com/office/drawing/2014/main" id="{5D72645A-0DF2-07EA-BF27-85D7A6CBA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661" y="4374811"/>
            <a:ext cx="1658989" cy="1658989"/>
          </a:xfrm>
          <a:prstGeom prst="rect">
            <a:avLst/>
          </a:prstGeom>
        </p:spPr>
      </p:pic>
      <p:pic>
        <p:nvPicPr>
          <p:cNvPr id="19" name="Picture 18" descr="A house on fire with flames on the roof&#10;&#10;Description automatically generated">
            <a:extLst>
              <a:ext uri="{FF2B5EF4-FFF2-40B4-BE49-F238E27FC236}">
                <a16:creationId xmlns:a16="http://schemas.microsoft.com/office/drawing/2014/main" id="{93B4E398-3773-4E63-3604-A77B686A6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412" y="4241229"/>
            <a:ext cx="1792571" cy="179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9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B0CE6244-8A93-B258-D457-F11AD3DA1022}"/>
              </a:ext>
            </a:extLst>
          </p:cNvPr>
          <p:cNvSpPr/>
          <p:nvPr/>
        </p:nvSpPr>
        <p:spPr>
          <a:xfrm>
            <a:off x="6982748" y="1563975"/>
            <a:ext cx="3301380" cy="2853452"/>
          </a:xfrm>
          <a:prstGeom prst="ellipse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967CAFB-CAEA-EAB5-4877-59DC84BCCB62}"/>
              </a:ext>
            </a:extLst>
          </p:cNvPr>
          <p:cNvSpPr/>
          <p:nvPr/>
        </p:nvSpPr>
        <p:spPr>
          <a:xfrm>
            <a:off x="1727744" y="3980953"/>
            <a:ext cx="3301380" cy="2853452"/>
          </a:xfrm>
          <a:prstGeom prst="ellipse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11F59D6-00EF-819B-CE5D-04429D0C8257}"/>
              </a:ext>
            </a:extLst>
          </p:cNvPr>
          <p:cNvSpPr/>
          <p:nvPr/>
        </p:nvSpPr>
        <p:spPr>
          <a:xfrm>
            <a:off x="5230351" y="3980953"/>
            <a:ext cx="3301380" cy="2853452"/>
          </a:xfrm>
          <a:prstGeom prst="ellipse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70371C-8305-A63F-A9FA-12A0EF43A693}"/>
              </a:ext>
            </a:extLst>
          </p:cNvPr>
          <p:cNvSpPr/>
          <p:nvPr/>
        </p:nvSpPr>
        <p:spPr>
          <a:xfrm>
            <a:off x="3479412" y="1563975"/>
            <a:ext cx="3301380" cy="2853452"/>
          </a:xfrm>
          <a:prstGeom prst="ellipse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C5B61B-0554-534E-CAA2-2B6ED7D40271}"/>
              </a:ext>
            </a:extLst>
          </p:cNvPr>
          <p:cNvSpPr/>
          <p:nvPr/>
        </p:nvSpPr>
        <p:spPr>
          <a:xfrm>
            <a:off x="20052" y="1541122"/>
            <a:ext cx="3301380" cy="2853452"/>
          </a:xfrm>
          <a:prstGeom prst="ellipse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56349-82AC-D842-338A-4B30CC0C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85037" cy="845836"/>
          </a:xfrm>
        </p:spPr>
        <p:txBody>
          <a:bodyPr/>
          <a:lstStyle/>
          <a:p>
            <a:r>
              <a:rPr lang="en-US" dirty="0"/>
              <a:t>CIRCUIT COMPONENTS</a:t>
            </a:r>
            <a:endParaRPr lang="en-PK" dirty="0"/>
          </a:p>
        </p:txBody>
      </p:sp>
      <p:pic>
        <p:nvPicPr>
          <p:cNvPr id="2056" name="Picture 8" descr="12V/5V Piezo Buzzer : Hallroad Lahore">
            <a:extLst>
              <a:ext uri="{FF2B5EF4-FFF2-40B4-BE49-F238E27FC236}">
                <a16:creationId xmlns:a16="http://schemas.microsoft.com/office/drawing/2014/main" id="{C396C4F3-59F5-9103-408F-4480FC817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0006" y="4249451"/>
            <a:ext cx="2779745" cy="277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Jumper Wire Male to Male 30cm 5PCS – City ElectronicsPK">
            <a:extLst>
              <a:ext uri="{FF2B5EF4-FFF2-40B4-BE49-F238E27FC236}">
                <a16:creationId xmlns:a16="http://schemas.microsoft.com/office/drawing/2014/main" id="{3CB180C6-C684-0969-D8A0-48A1C749A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54" y="1562795"/>
            <a:ext cx="3170076" cy="3170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5BBAFB7-C9C7-FFD3-6299-38B9F67BA571}"/>
              </a:ext>
            </a:extLst>
          </p:cNvPr>
          <p:cNvSpPr txBox="1"/>
          <p:nvPr/>
        </p:nvSpPr>
        <p:spPr>
          <a:xfrm>
            <a:off x="953929" y="1765694"/>
            <a:ext cx="1637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800000"/>
                </a:highlight>
              </a:rPr>
              <a:t>Jumper Wires</a:t>
            </a:r>
            <a:endParaRPr lang="en-PK" dirty="0">
              <a:highlight>
                <a:srgbClr val="800000"/>
              </a:highligh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A320D9-26C4-9B53-16F6-0351AC458EB0}"/>
              </a:ext>
            </a:extLst>
          </p:cNvPr>
          <p:cNvSpPr txBox="1"/>
          <p:nvPr/>
        </p:nvSpPr>
        <p:spPr>
          <a:xfrm>
            <a:off x="6042579" y="4312627"/>
            <a:ext cx="1760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800000"/>
                </a:highlight>
              </a:rPr>
              <a:t>Buzzer</a:t>
            </a:r>
            <a:endParaRPr lang="en-PK" dirty="0">
              <a:highlight>
                <a:srgbClr val="800000"/>
              </a:highlight>
            </a:endParaRPr>
          </a:p>
        </p:txBody>
      </p:sp>
      <p:pic>
        <p:nvPicPr>
          <p:cNvPr id="6146" name="Picture 2" descr="MQ2 Gas Sensor Detector Module in Pakistan – Digilog.pk">
            <a:extLst>
              <a:ext uri="{FF2B5EF4-FFF2-40B4-BE49-F238E27FC236}">
                <a16:creationId xmlns:a16="http://schemas.microsoft.com/office/drawing/2014/main" id="{E67527AC-E73E-81B9-A226-BA7C84167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56" b="89904" l="7452" r="96154">
                        <a14:foregroundMark x1="7692" y1="53606" x2="10817" y2="51923"/>
                        <a14:foregroundMark x1="64663" y1="78846" x2="86779" y2="61298"/>
                        <a14:foregroundMark x1="86615" y1="54084" x2="86538" y2="50721"/>
                        <a14:foregroundMark x1="86779" y1="61298" x2="86684" y2="57108"/>
                        <a14:foregroundMark x1="88541" y1="58752" x2="87260" y2="61058"/>
                        <a14:foregroundMark x1="93269" y1="50240" x2="91895" y2="52713"/>
                        <a14:foregroundMark x1="87260" y1="61058" x2="86298" y2="61538"/>
                        <a14:foregroundMark x1="95433" y1="72837" x2="94462" y2="72015"/>
                        <a14:foregroundMark x1="93671" y1="54285" x2="96154" y2="52404"/>
                        <a14:foregroundMark x1="37529" y1="68864" x2="42788" y2="71154"/>
                        <a14:foregroundMark x1="12981" y1="58173" x2="37426" y2="68819"/>
                        <a14:foregroundMark x1="88462" y1="59375" x2="88462" y2="59375"/>
                        <a14:foregroundMark x1="88462" y1="59375" x2="95192" y2="53846"/>
                        <a14:foregroundMark x1="83894" y1="63221" x2="92788" y2="55529"/>
                        <a14:backgroundMark x1="69952" y1="84135" x2="56010" y2="88942"/>
                        <a14:backgroundMark x1="56010" y1="88942" x2="41106" y2="85337"/>
                        <a14:backgroundMark x1="41106" y1="85337" x2="29567" y2="73317"/>
                        <a14:backgroundMark x1="29567" y1="73317" x2="12740" y2="63702"/>
                        <a14:backgroundMark x1="85577" y1="81250" x2="86779" y2="83173"/>
                        <a14:backgroundMark x1="36779" y1="74760" x2="24519" y2="68029"/>
                        <a14:backgroundMark x1="39904" y1="73317" x2="37019" y2="72596"/>
                        <a14:backgroundMark x1="36058" y1="72596" x2="13221" y2="62740"/>
                        <a14:backgroundMark x1="90144" y1="77644" x2="90385" y2="79327"/>
                        <a14:backgroundMark x1="85817" y1="82212" x2="82692" y2="81010"/>
                        <a14:backgroundMark x1="73798" y1="76923" x2="81971" y2="80529"/>
                        <a14:backgroundMark x1="81971" y1="69952" x2="92788" y2="740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444" y="4417427"/>
            <a:ext cx="2392559" cy="239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C9610-C6A6-81CD-4600-DEA31CBB1232}"/>
              </a:ext>
            </a:extLst>
          </p:cNvPr>
          <p:cNvSpPr txBox="1"/>
          <p:nvPr/>
        </p:nvSpPr>
        <p:spPr>
          <a:xfrm>
            <a:off x="3119783" y="4507882"/>
            <a:ext cx="1637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800000"/>
                </a:highlight>
              </a:rPr>
              <a:t>MQ2 Smoke Sensor</a:t>
            </a:r>
            <a:endParaRPr lang="en-PK" dirty="0">
              <a:highlight>
                <a:srgbClr val="800000"/>
              </a:highlight>
            </a:endParaRPr>
          </a:p>
        </p:txBody>
      </p:sp>
      <p:pic>
        <p:nvPicPr>
          <p:cNvPr id="6148" name="Picture 4" descr="DHT11 Temperature and Humidity Sensor Module in Pakistan DTH11 temperature  and humidity arduino sensor – Digilog.pk">
            <a:extLst>
              <a:ext uri="{FF2B5EF4-FFF2-40B4-BE49-F238E27FC236}">
                <a16:creationId xmlns:a16="http://schemas.microsoft.com/office/drawing/2014/main" id="{1246C94D-ED9A-2304-36DD-FE0B06646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5167" r="93333">
                        <a14:foregroundMark x1="8333" y1="38333" x2="6000" y2="47500"/>
                        <a14:foregroundMark x1="6000" y1="47500" x2="13333" y2="53833"/>
                        <a14:foregroundMark x1="13333" y1="53833" x2="5667" y2="49167"/>
                        <a14:foregroundMark x1="5667" y1="49167" x2="6167" y2="39500"/>
                        <a14:foregroundMark x1="6167" y1="39500" x2="8667" y2="48167"/>
                        <a14:foregroundMark x1="8667" y1="48167" x2="8500" y2="50000"/>
                        <a14:foregroundMark x1="5167" y1="40500" x2="5167" y2="50000"/>
                        <a14:foregroundMark x1="68333" y1="59333" x2="88500" y2="67333"/>
                        <a14:foregroundMark x1="72833" y1="53333" x2="92167" y2="60667"/>
                        <a14:foregroundMark x1="89896" y1="54083" x2="93333" y2="55333"/>
                        <a14:foregroundMark x1="91833" y1="55167" x2="79500" y2="49833"/>
                        <a14:foregroundMark x1="79500" y1="49833" x2="78667" y2="49167"/>
                        <a14:foregroundMark x1="78667" y1="49167" x2="92000" y2="54000"/>
                        <a14:backgroundMark x1="74833" y1="66000" x2="65500" y2="84000"/>
                        <a14:backgroundMark x1="78357" y1="48471" x2="78000" y2="4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402" y="1928462"/>
            <a:ext cx="2483962" cy="2483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799CA7-BC5A-6F5E-D039-36B1A9446E55}"/>
              </a:ext>
            </a:extLst>
          </p:cNvPr>
          <p:cNvSpPr txBox="1"/>
          <p:nvPr/>
        </p:nvSpPr>
        <p:spPr>
          <a:xfrm>
            <a:off x="7814456" y="1895355"/>
            <a:ext cx="1637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800000"/>
                </a:highlight>
              </a:rPr>
              <a:t>DHT 11</a:t>
            </a:r>
            <a:endParaRPr lang="en-PK" dirty="0">
              <a:highlight>
                <a:srgbClr val="800000"/>
              </a:highlight>
            </a:endParaRPr>
          </a:p>
        </p:txBody>
      </p:sp>
      <p:pic>
        <p:nvPicPr>
          <p:cNvPr id="6150" name="Picture 6" descr="Arduino Hc 05 Bluetooth Module Interfacing With Arduino Uno | Ard...">
            <a:extLst>
              <a:ext uri="{FF2B5EF4-FFF2-40B4-BE49-F238E27FC236}">
                <a16:creationId xmlns:a16="http://schemas.microsoft.com/office/drawing/2014/main" id="{71C73454-4F6A-B939-F23E-C23BBD519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8200" b="90000" l="2200" r="91400">
                        <a14:foregroundMark x1="17400" y1="53200" x2="8200" y2="59200"/>
                        <a14:foregroundMark x1="8200" y1="59200" x2="3200" y2="65200"/>
                        <a14:foregroundMark x1="6600" y1="69200" x2="25400" y2="55800"/>
                        <a14:foregroundMark x1="3400" y1="64800" x2="19000" y2="82400"/>
                        <a14:foregroundMark x1="19000" y1="82400" x2="31200" y2="82200"/>
                        <a14:foregroundMark x1="31200" y1="82200" x2="37000" y2="78200"/>
                        <a14:foregroundMark x1="37000" y1="78200" x2="27000" y2="84800"/>
                        <a14:foregroundMark x1="27000" y1="84800" x2="18000" y2="81400"/>
                        <a14:foregroundMark x1="18600" y1="82200" x2="23600" y2="88400"/>
                        <a14:foregroundMark x1="23600" y1="88400" x2="37400" y2="77400"/>
                        <a14:foregroundMark x1="3200" y1="64400" x2="16400" y2="54000"/>
                        <a14:foregroundMark x1="2200" y1="63600" x2="15800" y2="53200"/>
                        <a14:foregroundMark x1="89800" y1="24600" x2="91600" y2="29800"/>
                        <a14:foregroundMark x1="47200" y1="31400" x2="65600" y2="16400"/>
                        <a14:foregroundMark x1="50200" y1="66000" x2="83800" y2="38600"/>
                        <a14:foregroundMark x1="83800" y1="38600" x2="83800" y2="38400"/>
                        <a14:foregroundMark x1="23600" y1="51200" x2="30800" y2="46200"/>
                        <a14:foregroundMark x1="30800" y1="46200" x2="18800" y2="58600"/>
                        <a14:foregroundMark x1="18800" y1="58600" x2="18800" y2="58600"/>
                        <a14:foregroundMark x1="36000" y1="68200" x2="73000" y2="36200"/>
                        <a14:foregroundMark x1="73000" y1="36200" x2="58800" y2="36000"/>
                        <a14:foregroundMark x1="58800" y1="36000" x2="34000" y2="51800"/>
                        <a14:foregroundMark x1="34000" y1="51800" x2="59000" y2="33800"/>
                        <a14:foregroundMark x1="59000" y1="33800" x2="77000" y2="28000"/>
                        <a14:foregroundMark x1="77000" y1="28000" x2="77600" y2="30600"/>
                        <a14:foregroundMark x1="73200" y1="8600" x2="75800" y2="11600"/>
                        <a14:foregroundMark x1="73000" y1="9600" x2="73200" y2="8200"/>
                        <a14:foregroundMark x1="18800" y1="52400" x2="33200" y2="41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698" y="1444383"/>
            <a:ext cx="2766613" cy="2766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B84B8C-4C05-6648-4867-5CF83DFA4B7F}"/>
              </a:ext>
            </a:extLst>
          </p:cNvPr>
          <p:cNvSpPr txBox="1"/>
          <p:nvPr/>
        </p:nvSpPr>
        <p:spPr>
          <a:xfrm>
            <a:off x="4981388" y="3026035"/>
            <a:ext cx="1637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800000"/>
                </a:highlight>
              </a:rPr>
              <a:t>Arduino Bluetooth Sensor HC 05</a:t>
            </a:r>
            <a:endParaRPr lang="en-PK" dirty="0">
              <a:highlight>
                <a:srgbClr val="800000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B59596-BD78-CEA6-04E5-23CA03B6AA24}"/>
              </a:ext>
            </a:extLst>
          </p:cNvPr>
          <p:cNvSpPr/>
          <p:nvPr/>
        </p:nvSpPr>
        <p:spPr>
          <a:xfrm>
            <a:off x="8712589" y="3980953"/>
            <a:ext cx="3301380" cy="2853452"/>
          </a:xfrm>
          <a:prstGeom prst="ellipse">
            <a:avLst/>
          </a:prstGeom>
          <a:solidFill>
            <a:schemeClr val="bg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pic>
        <p:nvPicPr>
          <p:cNvPr id="6152" name="Picture 8" descr="Arduino Uno - Wikipedia">
            <a:extLst>
              <a:ext uri="{FF2B5EF4-FFF2-40B4-BE49-F238E27FC236}">
                <a16:creationId xmlns:a16="http://schemas.microsoft.com/office/drawing/2014/main" id="{114A4E81-A390-E0CE-4CFF-F0140BEFB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4500" r="96167">
                        <a14:foregroundMark x1="90333" y1="40500" x2="93000" y2="48667"/>
                        <a14:foregroundMark x1="93000" y1="48667" x2="90500" y2="50500"/>
                        <a14:foregroundMark x1="8500" y1="49167" x2="6833" y2="58833"/>
                        <a14:foregroundMark x1="6833" y1="58833" x2="12000" y2="62667"/>
                        <a14:foregroundMark x1="6167" y1="56333" x2="7167" y2="50500"/>
                        <a14:foregroundMark x1="14667" y1="44000" x2="9167" y2="47500"/>
                        <a14:foregroundMark x1="9333" y1="47667" x2="12500" y2="45500"/>
                        <a14:foregroundMark x1="39333" y1="83667" x2="48500" y2="82167"/>
                        <a14:foregroundMark x1="48500" y1="82167" x2="77500" y2="61500"/>
                        <a14:foregroundMark x1="77500" y1="61500" x2="79829" y2="60630"/>
                        <a14:foregroundMark x1="19333" y1="64667" x2="29667" y2="74833"/>
                        <a14:foregroundMark x1="96333" y1="47167" x2="95167" y2="48833"/>
                        <a14:foregroundMark x1="4500" y1="52833" x2="6167" y2="51167"/>
                        <a14:foregroundMark x1="73833" y1="25333" x2="73833" y2="25333"/>
                        <a14:foregroundMark x1="74500" y1="23500" x2="74500" y2="23500"/>
                        <a14:backgroundMark x1="89833" y1="56667" x2="84667" y2="59667"/>
                        <a14:backgroundMark x1="92333" y1="57000" x2="83000" y2="60333"/>
                        <a14:backgroundMark x1="81667" y1="60333" x2="83000" y2="59333"/>
                        <a14:backgroundMark x1="80667" y1="61333" x2="82667" y2="60333"/>
                        <a14:backgroundMark x1="81833" y1="60333" x2="80333" y2="61167"/>
                        <a14:backgroundMark x1="74167" y1="24667" x2="74167" y2="24667"/>
                        <a14:backgroundMark x1="74167" y1="24667" x2="74167" y2="24000"/>
                        <a14:backgroundMark x1="73667" y1="25167" x2="73667" y2="251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0475" y="4018644"/>
            <a:ext cx="3241358" cy="324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A2B7FF-AAD4-CFDA-302E-D0C5498EA794}"/>
              </a:ext>
            </a:extLst>
          </p:cNvPr>
          <p:cNvSpPr txBox="1"/>
          <p:nvPr/>
        </p:nvSpPr>
        <p:spPr>
          <a:xfrm>
            <a:off x="8904980" y="4249451"/>
            <a:ext cx="1760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800000"/>
                </a:highlight>
              </a:rPr>
              <a:t>Arduino </a:t>
            </a:r>
          </a:p>
          <a:p>
            <a:pPr algn="ctr"/>
            <a:r>
              <a:rPr lang="en-US" dirty="0">
                <a:highlight>
                  <a:srgbClr val="800000"/>
                </a:highlight>
              </a:rPr>
              <a:t>UNO</a:t>
            </a:r>
            <a:endParaRPr lang="en-PK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7960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6CFA670B-B98C-0C7F-3E37-C71B5EA23D40}"/>
              </a:ext>
            </a:extLst>
          </p:cNvPr>
          <p:cNvSpPr/>
          <p:nvPr/>
        </p:nvSpPr>
        <p:spPr>
          <a:xfrm>
            <a:off x="457200" y="5025317"/>
            <a:ext cx="2152948" cy="1717321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51BD7BEE-9D53-EB40-F385-B1C9B61D52CA}"/>
              </a:ext>
            </a:extLst>
          </p:cNvPr>
          <p:cNvSpPr/>
          <p:nvPr/>
        </p:nvSpPr>
        <p:spPr>
          <a:xfrm>
            <a:off x="8681852" y="5021532"/>
            <a:ext cx="2152948" cy="1717321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Rectangle: Diagonal Corners Rounded 16">
            <a:extLst>
              <a:ext uri="{FF2B5EF4-FFF2-40B4-BE49-F238E27FC236}">
                <a16:creationId xmlns:a16="http://schemas.microsoft.com/office/drawing/2014/main" id="{2DFE95A5-C0B1-5FC4-AF00-7B4738AD8C1A}"/>
              </a:ext>
            </a:extLst>
          </p:cNvPr>
          <p:cNvSpPr/>
          <p:nvPr/>
        </p:nvSpPr>
        <p:spPr>
          <a:xfrm>
            <a:off x="3037279" y="5021533"/>
            <a:ext cx="2152948" cy="1717321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8390C-0D6C-413A-8BC4-AC8FD0AE3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011461"/>
          </a:xfrm>
        </p:spPr>
        <p:txBody>
          <a:bodyPr/>
          <a:lstStyle/>
          <a:p>
            <a:r>
              <a:rPr lang="en-US" dirty="0"/>
              <a:t>DETAILS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91F2E-DFB5-32AB-260E-A1EFD817D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51" y="1888767"/>
            <a:ext cx="2192694" cy="1883133"/>
          </a:xfrm>
          <a:solidFill>
            <a:schemeClr val="accent2">
              <a:lumMod val="5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u="sng" dirty="0"/>
              <a:t>Buzzer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Positive side: digital pin 8</a:t>
            </a:r>
          </a:p>
          <a:p>
            <a:pPr marL="0" indent="0">
              <a:buNone/>
            </a:pPr>
            <a:r>
              <a:rPr lang="en-US" dirty="0"/>
              <a:t>Negative side: ground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3B253-EF18-1222-EC29-4B14673D0A9C}"/>
              </a:ext>
            </a:extLst>
          </p:cNvPr>
          <p:cNvSpPr txBox="1"/>
          <p:nvPr/>
        </p:nvSpPr>
        <p:spPr>
          <a:xfrm>
            <a:off x="5579704" y="1882110"/>
            <a:ext cx="2500605" cy="3231654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Arduino Bluetooth Sensor HC 005</a:t>
            </a:r>
          </a:p>
          <a:p>
            <a:r>
              <a:rPr lang="en-US" sz="2000" dirty="0"/>
              <a:t>VCC: 5V pin</a:t>
            </a:r>
          </a:p>
          <a:p>
            <a:r>
              <a:rPr lang="en-US" sz="2000" dirty="0"/>
              <a:t>Ground: </a:t>
            </a:r>
            <a:r>
              <a:rPr lang="en-US" sz="2000" dirty="0" err="1"/>
              <a:t>Gnd</a:t>
            </a:r>
            <a:r>
              <a:rPr lang="en-US" sz="2000" dirty="0"/>
              <a:t> pin </a:t>
            </a:r>
          </a:p>
          <a:p>
            <a:r>
              <a:rPr lang="en-US" sz="2000" dirty="0"/>
              <a:t>RX: digital pin 3</a:t>
            </a:r>
          </a:p>
          <a:p>
            <a:r>
              <a:rPr lang="en-US" sz="2000" dirty="0"/>
              <a:t>TX: digital pin 2</a:t>
            </a:r>
          </a:p>
          <a:p>
            <a:r>
              <a:rPr lang="en-US" sz="2000" dirty="0"/>
              <a:t>State: NA</a:t>
            </a:r>
          </a:p>
          <a:p>
            <a:r>
              <a:rPr lang="en-US" sz="2000" dirty="0"/>
              <a:t>ENABLE: NA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2CA64F-EDF3-CFED-4F6E-A92D2E6B448D}"/>
              </a:ext>
            </a:extLst>
          </p:cNvPr>
          <p:cNvSpPr txBox="1"/>
          <p:nvPr/>
        </p:nvSpPr>
        <p:spPr>
          <a:xfrm>
            <a:off x="8388219" y="1882110"/>
            <a:ext cx="2500604" cy="1877437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MQ2 Smoke Sensor</a:t>
            </a:r>
          </a:p>
          <a:p>
            <a:r>
              <a:rPr lang="en-US" sz="2000" dirty="0"/>
              <a:t>VCC: 5V pin </a:t>
            </a:r>
          </a:p>
          <a:p>
            <a:r>
              <a:rPr lang="en-US" sz="2000" dirty="0"/>
              <a:t>Ground: </a:t>
            </a:r>
            <a:r>
              <a:rPr lang="en-US" sz="2000" dirty="0" err="1"/>
              <a:t>Gnd</a:t>
            </a:r>
            <a:r>
              <a:rPr lang="en-US" sz="2000" dirty="0"/>
              <a:t> pin </a:t>
            </a:r>
          </a:p>
          <a:p>
            <a:r>
              <a:rPr lang="en-US" sz="2000" dirty="0"/>
              <a:t>A0: Analogue pin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52455-96D8-D23A-2CD3-9FC423815718}"/>
              </a:ext>
            </a:extLst>
          </p:cNvPr>
          <p:cNvSpPr txBox="1"/>
          <p:nvPr/>
        </p:nvSpPr>
        <p:spPr>
          <a:xfrm>
            <a:off x="3037751" y="1882110"/>
            <a:ext cx="2114351" cy="2677656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DHT 11</a:t>
            </a:r>
          </a:p>
          <a:p>
            <a:r>
              <a:rPr lang="en-US" sz="2000" dirty="0"/>
              <a:t>VCC: 5V pin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Ground: </a:t>
            </a:r>
            <a:r>
              <a:rPr lang="en-US" sz="2000" dirty="0" err="1"/>
              <a:t>Gnd</a:t>
            </a:r>
            <a:r>
              <a:rPr lang="en-US" sz="2000" dirty="0"/>
              <a:t> pin </a:t>
            </a:r>
          </a:p>
          <a:p>
            <a:endParaRPr lang="en-US" sz="2000" dirty="0"/>
          </a:p>
          <a:p>
            <a:r>
              <a:rPr lang="en-US" sz="2000" dirty="0"/>
              <a:t>D0: digital pin 4</a:t>
            </a:r>
          </a:p>
          <a:p>
            <a:endParaRPr lang="en-US" sz="2000" dirty="0"/>
          </a:p>
          <a:p>
            <a:r>
              <a:rPr lang="en-US" sz="2000" dirty="0"/>
              <a:t>A0: NA</a:t>
            </a:r>
          </a:p>
        </p:txBody>
      </p:sp>
      <p:pic>
        <p:nvPicPr>
          <p:cNvPr id="9" name="Picture 4" descr="DHT11 Temperature and Humidity Sensor Module in Pakistan DTH11 temperature  and humidity arduino sensor – Digilog.pk">
            <a:extLst>
              <a:ext uri="{FF2B5EF4-FFF2-40B4-BE49-F238E27FC236}">
                <a16:creationId xmlns:a16="http://schemas.microsoft.com/office/drawing/2014/main" id="{1BC29EA2-5D42-E389-F9FB-F85519C57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5167" r="93333">
                        <a14:foregroundMark x1="8333" y1="38333" x2="6000" y2="47500"/>
                        <a14:foregroundMark x1="6000" y1="47500" x2="13333" y2="53833"/>
                        <a14:foregroundMark x1="13333" y1="53833" x2="5667" y2="49167"/>
                        <a14:foregroundMark x1="5667" y1="49167" x2="6167" y2="39500"/>
                        <a14:foregroundMark x1="6167" y1="39500" x2="8667" y2="48167"/>
                        <a14:foregroundMark x1="8667" y1="48167" x2="8500" y2="50000"/>
                        <a14:foregroundMark x1="5167" y1="40500" x2="5167" y2="50000"/>
                        <a14:foregroundMark x1="68333" y1="59333" x2="88500" y2="67333"/>
                        <a14:foregroundMark x1="72833" y1="53333" x2="92167" y2="60667"/>
                        <a14:foregroundMark x1="89896" y1="54083" x2="93333" y2="55333"/>
                        <a14:foregroundMark x1="91833" y1="55167" x2="79500" y2="49833"/>
                        <a14:foregroundMark x1="79500" y1="49833" x2="78667" y2="49167"/>
                        <a14:foregroundMark x1="78667" y1="49167" x2="92000" y2="54000"/>
                        <a14:backgroundMark x1="74833" y1="66000" x2="65500" y2="84000"/>
                        <a14:backgroundMark x1="78357" y1="48471" x2="78000" y2="48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6577" y="4783534"/>
            <a:ext cx="2114351" cy="2114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12V/5V Piezo Buzzer : Hallroad Lahore">
            <a:extLst>
              <a:ext uri="{FF2B5EF4-FFF2-40B4-BE49-F238E27FC236}">
                <a16:creationId xmlns:a16="http://schemas.microsoft.com/office/drawing/2014/main" id="{F3127BF7-DF0B-1073-C485-776912F42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945" y="4575883"/>
            <a:ext cx="2779745" cy="2779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Q2 Gas Sensor Detector Module in Pakistan – Digilog.pk">
            <a:extLst>
              <a:ext uri="{FF2B5EF4-FFF2-40B4-BE49-F238E27FC236}">
                <a16:creationId xmlns:a16="http://schemas.microsoft.com/office/drawing/2014/main" id="{065EEB31-3569-3D9C-BE43-687C2EBB1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856" b="89904" l="7452" r="96154">
                        <a14:foregroundMark x1="7692" y1="53606" x2="10817" y2="51923"/>
                        <a14:foregroundMark x1="64663" y1="78846" x2="86779" y2="61298"/>
                        <a14:foregroundMark x1="86615" y1="54084" x2="86538" y2="50721"/>
                        <a14:foregroundMark x1="86779" y1="61298" x2="86684" y2="57108"/>
                        <a14:foregroundMark x1="88541" y1="58752" x2="87260" y2="61058"/>
                        <a14:foregroundMark x1="93269" y1="50240" x2="91895" y2="52713"/>
                        <a14:foregroundMark x1="87260" y1="61058" x2="86298" y2="61538"/>
                        <a14:foregroundMark x1="95433" y1="72837" x2="94462" y2="72015"/>
                        <a14:foregroundMark x1="93671" y1="54285" x2="96154" y2="52404"/>
                        <a14:foregroundMark x1="37529" y1="68864" x2="42788" y2="71154"/>
                        <a14:foregroundMark x1="12981" y1="58173" x2="37426" y2="68819"/>
                        <a14:foregroundMark x1="88462" y1="59375" x2="88462" y2="59375"/>
                        <a14:foregroundMark x1="88462" y1="59375" x2="95192" y2="53846"/>
                        <a14:foregroundMark x1="83894" y1="63221" x2="92788" y2="55529"/>
                        <a14:backgroundMark x1="69952" y1="84135" x2="56010" y2="88942"/>
                        <a14:backgroundMark x1="56010" y1="88942" x2="41106" y2="85337"/>
                        <a14:backgroundMark x1="41106" y1="85337" x2="29567" y2="73317"/>
                        <a14:backgroundMark x1="29567" y1="73317" x2="12740" y2="63702"/>
                        <a14:backgroundMark x1="85577" y1="81250" x2="86779" y2="83173"/>
                        <a14:backgroundMark x1="36779" y1="74760" x2="24519" y2="68029"/>
                        <a14:backgroundMark x1="39904" y1="73317" x2="37019" y2="72596"/>
                        <a14:backgroundMark x1="36058" y1="72596" x2="13221" y2="62740"/>
                        <a14:backgroundMark x1="90144" y1="77644" x2="90385" y2="79327"/>
                        <a14:backgroundMark x1="85817" y1="82212" x2="82692" y2="81010"/>
                        <a14:backgroundMark x1="73798" y1="76923" x2="81971" y2="80529"/>
                        <a14:backgroundMark x1="81971" y1="69952" x2="92788" y2="740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0261" y="4783534"/>
            <a:ext cx="2214953" cy="221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D3007282-C343-A82E-F4ED-49E871305627}"/>
              </a:ext>
            </a:extLst>
          </p:cNvPr>
          <p:cNvSpPr/>
          <p:nvPr/>
        </p:nvSpPr>
        <p:spPr>
          <a:xfrm>
            <a:off x="5690881" y="5021533"/>
            <a:ext cx="2152948" cy="1717321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11" name="Picture 6" descr="Arduino Hc 05 Bluetooth Module Interfacing With Arduino Uno | Ard...">
            <a:extLst>
              <a:ext uri="{FF2B5EF4-FFF2-40B4-BE49-F238E27FC236}">
                <a16:creationId xmlns:a16="http://schemas.microsoft.com/office/drawing/2014/main" id="{5E4CCB89-8FE2-3168-1668-1F95318FF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8200" b="90000" l="2200" r="91400">
                        <a14:foregroundMark x1="17400" y1="53200" x2="8200" y2="59200"/>
                        <a14:foregroundMark x1="8200" y1="59200" x2="3200" y2="65200"/>
                        <a14:foregroundMark x1="6600" y1="69200" x2="25400" y2="55800"/>
                        <a14:foregroundMark x1="3400" y1="64800" x2="19000" y2="82400"/>
                        <a14:foregroundMark x1="19000" y1="82400" x2="31200" y2="82200"/>
                        <a14:foregroundMark x1="31200" y1="82200" x2="37000" y2="78200"/>
                        <a14:foregroundMark x1="37000" y1="78200" x2="27000" y2="84800"/>
                        <a14:foregroundMark x1="27000" y1="84800" x2="18000" y2="81400"/>
                        <a14:foregroundMark x1="18600" y1="82200" x2="23600" y2="88400"/>
                        <a14:foregroundMark x1="23600" y1="88400" x2="37400" y2="77400"/>
                        <a14:foregroundMark x1="3200" y1="64400" x2="16400" y2="54000"/>
                        <a14:foregroundMark x1="2200" y1="63600" x2="15800" y2="53200"/>
                        <a14:foregroundMark x1="89800" y1="24600" x2="91600" y2="29800"/>
                        <a14:foregroundMark x1="47200" y1="31400" x2="65600" y2="16400"/>
                        <a14:foregroundMark x1="50200" y1="66000" x2="83800" y2="38600"/>
                        <a14:foregroundMark x1="83800" y1="38600" x2="83800" y2="38400"/>
                        <a14:foregroundMark x1="23600" y1="51200" x2="30800" y2="46200"/>
                        <a14:foregroundMark x1="30800" y1="46200" x2="18800" y2="58600"/>
                        <a14:foregroundMark x1="18800" y1="58600" x2="18800" y2="58600"/>
                        <a14:foregroundMark x1="36000" y1="68200" x2="73000" y2="36200"/>
                        <a14:foregroundMark x1="73000" y1="36200" x2="58800" y2="36000"/>
                        <a14:foregroundMark x1="58800" y1="36000" x2="34000" y2="51800"/>
                        <a14:foregroundMark x1="34000" y1="51800" x2="59000" y2="33800"/>
                        <a14:foregroundMark x1="59000" y1="33800" x2="77000" y2="28000"/>
                        <a14:foregroundMark x1="77000" y1="28000" x2="77600" y2="30600"/>
                        <a14:foregroundMark x1="73200" y1="8600" x2="75800" y2="11600"/>
                        <a14:foregroundMark x1="73000" y1="9600" x2="73200" y2="8200"/>
                        <a14:foregroundMark x1="18800" y1="52400" x2="33200" y2="41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2830" y="4846056"/>
            <a:ext cx="2114351" cy="2089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84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AE4B6-D91A-923E-0CF4-B9C674362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154" y="948604"/>
            <a:ext cx="7685037" cy="339869"/>
          </a:xfrm>
        </p:spPr>
        <p:txBody>
          <a:bodyPr>
            <a:normAutofit fontScale="90000"/>
          </a:bodyPr>
          <a:lstStyle/>
          <a:p>
            <a:r>
              <a:rPr lang="en-US" dirty="0"/>
              <a:t>ARDUINO CODE</a:t>
            </a:r>
            <a:endParaRPr lang="en-PK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B52D20-9CD7-8A9A-464E-5526663202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6" t="13019"/>
          <a:stretch/>
        </p:blipFill>
        <p:spPr bwMode="auto">
          <a:xfrm>
            <a:off x="1901536" y="1288473"/>
            <a:ext cx="8751103" cy="54056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03624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1DCD8-4B77-C762-78DC-8C965FF09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1A0686-7AA6-0B06-E6C4-54691F8B6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5" t="11018"/>
          <a:stretch/>
        </p:blipFill>
        <p:spPr bwMode="auto">
          <a:xfrm>
            <a:off x="169936" y="668050"/>
            <a:ext cx="11852128" cy="55219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56153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2570-04BA-7276-B06E-392B7907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12855-8313-E22C-D7A8-7A1122849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u="sng" dirty="0"/>
              <a:t>Libraries:</a:t>
            </a:r>
            <a:r>
              <a:rPr lang="en-US" sz="2200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DHT.h</a:t>
            </a:r>
            <a:r>
              <a:rPr lang="en-US" sz="2200" dirty="0"/>
              <a:t>: for DHT sensor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 err="1"/>
              <a:t>SoftwareSerial.h</a:t>
            </a:r>
            <a:r>
              <a:rPr lang="en-US" sz="2200" dirty="0"/>
              <a:t>: for communication with Bluetooth module HC-05</a:t>
            </a:r>
          </a:p>
          <a:p>
            <a:r>
              <a:rPr lang="en-US" sz="2200" u="sng" dirty="0"/>
              <a:t>Baud rate:</a:t>
            </a:r>
            <a:r>
              <a:rPr lang="en-US" sz="2200" dirty="0"/>
              <a:t> (for serial communication) 9600 bits per second</a:t>
            </a:r>
            <a:endParaRPr lang="en-US" sz="2200" u="sng" dirty="0"/>
          </a:p>
          <a:p>
            <a:r>
              <a:rPr lang="en-US" sz="2200" u="sng" dirty="0"/>
              <a:t>Conditions:</a:t>
            </a:r>
            <a:r>
              <a:rPr lang="en-US" sz="2200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If temperature exceeds 50C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If analog sensor voltage exceeds 1.85V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Then buzzer is activated for 1 second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And “FIRE ALERT!!” message is sent over </a:t>
            </a:r>
            <a:r>
              <a:rPr lang="en-US" sz="2200" dirty="0" err="1"/>
              <a:t>bluetooth</a:t>
            </a:r>
            <a:endParaRPr lang="en-US" sz="2200" dirty="0"/>
          </a:p>
          <a:p>
            <a:endParaRPr lang="en-US" sz="2200" dirty="0"/>
          </a:p>
          <a:p>
            <a:endParaRPr lang="en-US" sz="2200" u="sng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6719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8701-F885-6513-2ADB-8926753EC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ANALYSIS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9ED43D-CD4B-F13D-08A6-B74724372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2366612"/>
              </p:ext>
            </p:extLst>
          </p:nvPr>
        </p:nvGraphicFramePr>
        <p:xfrm>
          <a:off x="765109" y="2267339"/>
          <a:ext cx="7296540" cy="43366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48270">
                  <a:extLst>
                    <a:ext uri="{9D8B030D-6E8A-4147-A177-3AD203B41FA5}">
                      <a16:colId xmlns:a16="http://schemas.microsoft.com/office/drawing/2014/main" val="1193124960"/>
                    </a:ext>
                  </a:extLst>
                </a:gridCol>
                <a:gridCol w="3648270">
                  <a:extLst>
                    <a:ext uri="{9D8B030D-6E8A-4147-A177-3AD203B41FA5}">
                      <a16:colId xmlns:a16="http://schemas.microsoft.com/office/drawing/2014/main" val="1516965826"/>
                    </a:ext>
                  </a:extLst>
                </a:gridCol>
              </a:tblGrid>
              <a:tr h="476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COMPONENT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PRICE IN PKR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489149"/>
                  </a:ext>
                </a:extLst>
              </a:tr>
              <a:tr h="476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MQ2 Smoke Sensor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350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1719547"/>
                  </a:ext>
                </a:extLst>
              </a:tr>
              <a:tr h="480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Arduino Bluetooth Sensor HC 05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700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1997396"/>
                  </a:ext>
                </a:extLst>
              </a:tr>
              <a:tr h="44238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Buzzer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50 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6246359"/>
                  </a:ext>
                </a:extLst>
              </a:tr>
              <a:tr h="48519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Connecting wires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300 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4367522"/>
                  </a:ext>
                </a:extLst>
              </a:tr>
              <a:tr h="480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Arduino Uno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1500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36736555"/>
                  </a:ext>
                </a:extLst>
              </a:tr>
              <a:tr h="3386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+mn-lt"/>
                        </a:rPr>
                        <a:t>DHT 11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300</a:t>
                      </a:r>
                      <a:endParaRPr lang="en-PK" sz="1600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2116209"/>
                  </a:ext>
                </a:extLst>
              </a:tr>
              <a:tr h="480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Miscellaneous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500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0959513"/>
                  </a:ext>
                </a:extLst>
              </a:tr>
              <a:tr h="480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</a:rPr>
                        <a:t>Total</a:t>
                      </a:r>
                      <a:endParaRPr lang="en-PK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</a:rPr>
                        <a:t>3800 (approx.)</a:t>
                      </a:r>
                      <a:endParaRPr lang="en-PK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1520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485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0FB8-EB58-88DD-D75F-6CBE4114F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EXPLANATION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EF67C-0A79-5C5E-1616-EE84229F3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/>
              <a:t>Bought extra components:</a:t>
            </a:r>
          </a:p>
          <a:p>
            <a:r>
              <a:rPr lang="en-US" sz="2200" dirty="0"/>
              <a:t>3 temperature sensors</a:t>
            </a:r>
          </a:p>
          <a:p>
            <a:r>
              <a:rPr lang="en-US" sz="2200" dirty="0"/>
              <a:t>2 buzzers</a:t>
            </a:r>
          </a:p>
          <a:p>
            <a:r>
              <a:rPr lang="en-US" sz="2200" dirty="0"/>
              <a:t>Extra jumper wires</a:t>
            </a:r>
          </a:p>
          <a:p>
            <a:pPr marL="0" indent="0">
              <a:buNone/>
            </a:pPr>
            <a:r>
              <a:rPr lang="en-US" sz="2200" dirty="0"/>
              <a:t>Miscellaneous charges:</a:t>
            </a:r>
          </a:p>
          <a:p>
            <a:r>
              <a:rPr lang="en-US" sz="2200" dirty="0"/>
              <a:t>Cost of paper</a:t>
            </a:r>
          </a:p>
          <a:p>
            <a:r>
              <a:rPr lang="en-US" sz="2200" dirty="0"/>
              <a:t>Fuel for travel</a:t>
            </a:r>
          </a:p>
          <a:p>
            <a:r>
              <a:rPr lang="en-US" sz="2200" dirty="0"/>
              <a:t>Lighter</a:t>
            </a:r>
            <a:endParaRPr lang="en-PK" sz="2200" dirty="0"/>
          </a:p>
        </p:txBody>
      </p:sp>
    </p:spTree>
    <p:extLst>
      <p:ext uri="{BB962C8B-B14F-4D97-AF65-F5344CB8AC3E}">
        <p14:creationId xmlns:p14="http://schemas.microsoft.com/office/powerpoint/2010/main" val="2915006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40,440 Red Thank You Images, Stock Photos, 3D objects, &amp; Vectors |  Shutterstock">
            <a:extLst>
              <a:ext uri="{FF2B5EF4-FFF2-40B4-BE49-F238E27FC236}">
                <a16:creationId xmlns:a16="http://schemas.microsoft.com/office/drawing/2014/main" id="{F2F54EAE-2714-DA3A-F5AA-9C5F5B0A66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82"/>
          <a:stretch/>
        </p:blipFill>
        <p:spPr bwMode="auto">
          <a:xfrm>
            <a:off x="2780522" y="1268964"/>
            <a:ext cx="5332360" cy="5002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021758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LeftStep">
      <a:dk1>
        <a:srgbClr val="000000"/>
      </a:dk1>
      <a:lt1>
        <a:srgbClr val="FFFFFF"/>
      </a:lt1>
      <a:dk2>
        <a:srgbClr val="321C1D"/>
      </a:dk2>
      <a:lt2>
        <a:srgbClr val="F0F2F3"/>
      </a:lt2>
      <a:accent1>
        <a:srgbClr val="DF7431"/>
      </a:accent1>
      <a:accent2>
        <a:srgbClr val="CD1F24"/>
      </a:accent2>
      <a:accent3>
        <a:srgbClr val="DF317E"/>
      </a:accent3>
      <a:accent4>
        <a:srgbClr val="CD1FB5"/>
      </a:accent4>
      <a:accent5>
        <a:srgbClr val="AE31DF"/>
      </a:accent5>
      <a:accent6>
        <a:srgbClr val="5B28CF"/>
      </a:accent6>
      <a:hlink>
        <a:srgbClr val="3F8DB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Widescreen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Söhne</vt:lpstr>
      <vt:lpstr>Arial</vt:lpstr>
      <vt:lpstr>Calibri</vt:lpstr>
      <vt:lpstr>Gill Sans Nova</vt:lpstr>
      <vt:lpstr>TropicVTI</vt:lpstr>
      <vt:lpstr>FIRE ALARM SYSTEM</vt:lpstr>
      <vt:lpstr>PowerPoint Presentation</vt:lpstr>
      <vt:lpstr>GOALS</vt:lpstr>
      <vt:lpstr>PowerPoint Presentation</vt:lpstr>
      <vt:lpstr>CIRCUIT COMPONENTS</vt:lpstr>
      <vt:lpstr>DETAILS</vt:lpstr>
      <vt:lpstr>ARDUINO CODE</vt:lpstr>
      <vt:lpstr>PowerPoint Presentation</vt:lpstr>
      <vt:lpstr>EXPLANATION</vt:lpstr>
      <vt:lpstr>BUDGET ANALYSIS</vt:lpstr>
      <vt:lpstr>EXPLANATION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ALARM SYSTEM</dc:title>
  <dc:creator>Humbal Siddiqui</dc:creator>
  <cp:lastModifiedBy>Humbal Siddiqui</cp:lastModifiedBy>
  <cp:revision>6</cp:revision>
  <dcterms:created xsi:type="dcterms:W3CDTF">2023-12-01T19:38:55Z</dcterms:created>
  <dcterms:modified xsi:type="dcterms:W3CDTF">2023-12-05T17:20:14Z</dcterms:modified>
</cp:coreProperties>
</file>